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9"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hesai.org/Publications/ViewPaper?Volume=11&amp;Issue="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5"/>
          <p:cNvSpPr txBox="1"/>
          <p:nvPr>
            <p:ph type="ctrTitle"/>
          </p:nvPr>
        </p:nvSpPr>
        <p:spPr>
          <a:xfrm>
            <a:off x="1524000" y="974355"/>
            <a:ext cx="9144001" cy="3076331"/>
          </a:xfrm>
          <a:prstGeom prst="rect">
            <a:avLst/>
          </a:prstGeom>
        </p:spPr>
        <p:txBody>
          <a:bodyPr/>
          <a:lstStyle/>
          <a:p>
            <a:pPr>
              <a:defRPr sz="4000"/>
            </a:pPr>
            <a:r>
              <a:t>Credit Card Fraud Detection Using Machine</a:t>
            </a:r>
            <a:br/>
            <a:r>
              <a:t>Learning</a:t>
            </a:r>
            <a:br/>
          </a:p>
        </p:txBody>
      </p:sp>
      <p:sp>
        <p:nvSpPr>
          <p:cNvPr id="95" name="Presented by: Samir Ghumde"/>
          <p:cNvSpPr txBox="1"/>
          <p:nvPr/>
        </p:nvSpPr>
        <p:spPr>
          <a:xfrm>
            <a:off x="8957838" y="5459542"/>
            <a:ext cx="3049521"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Presented by: Samir Ghumde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itle 1"/>
          <p:cNvSpPr txBox="1"/>
          <p:nvPr>
            <p:ph type="title"/>
          </p:nvPr>
        </p:nvSpPr>
        <p:spPr>
          <a:xfrm>
            <a:off x="838200" y="365125"/>
            <a:ext cx="10515600" cy="1325563"/>
          </a:xfrm>
          <a:prstGeom prst="rect">
            <a:avLst/>
          </a:prstGeom>
        </p:spPr>
        <p:txBody>
          <a:bodyPr/>
          <a:lstStyle/>
          <a:p>
            <a:pPr/>
            <a:r>
              <a:t>Overview</a:t>
            </a:r>
          </a:p>
        </p:txBody>
      </p:sp>
      <p:sp>
        <p:nvSpPr>
          <p:cNvPr id="98" name="Content Placeholder 2"/>
          <p:cNvSpPr txBox="1"/>
          <p:nvPr>
            <p:ph type="body" idx="1"/>
          </p:nvPr>
        </p:nvSpPr>
        <p:spPr>
          <a:xfrm>
            <a:off x="838200" y="1825625"/>
            <a:ext cx="10515600" cy="4351338"/>
          </a:xfrm>
          <a:prstGeom prst="rect">
            <a:avLst/>
          </a:prstGeom>
        </p:spPr>
        <p:txBody>
          <a:bodyPr/>
          <a:lstStyle/>
          <a:p>
            <a:pPr marL="0" indent="0" algn="just">
              <a:lnSpc>
                <a:spcPct val="100000"/>
              </a:lnSpc>
              <a:buSzTx/>
              <a:buNone/>
              <a:defRPr b="1" sz="2000"/>
            </a:pPr>
            <a:r>
              <a:t>Problem statement: </a:t>
            </a:r>
            <a:r>
              <a:rPr b="0">
                <a:latin typeface="Times New Roman"/>
                <a:ea typeface="Times New Roman"/>
                <a:cs typeface="Times New Roman"/>
                <a:sym typeface="Times New Roman"/>
              </a:rPr>
              <a:t>The increasing prevalence of credit card fraud in the digital era necessitates the development of robust and efficient fraud detection systems. This project aims to  develop a machine-learning model to detect credit card fraud. The model will be trained on a dataset of historical credit card transactions and evaluated on a holdout dataset of  unseen transactions.</a:t>
            </a:r>
            <a:endParaRPr b="0">
              <a:latin typeface="Times New Roman"/>
              <a:ea typeface="Times New Roman"/>
              <a:cs typeface="Times New Roman"/>
              <a:sym typeface="Times New Roman"/>
            </a:endParaRPr>
          </a:p>
          <a:p>
            <a:pPr marL="0" indent="0" algn="just">
              <a:lnSpc>
                <a:spcPct val="100000"/>
              </a:lnSpc>
              <a:buSzTx/>
              <a:buNone/>
              <a:defRPr sz="2000">
                <a:latin typeface="Times New Roman"/>
                <a:ea typeface="Times New Roman"/>
                <a:cs typeface="Times New Roman"/>
                <a:sym typeface="Times New Roman"/>
              </a:defRPr>
            </a:pPr>
          </a:p>
          <a:p>
            <a:pPr marL="0" indent="0" algn="just">
              <a:lnSpc>
                <a:spcPct val="100000"/>
              </a:lnSpc>
              <a:buSzTx/>
              <a:buNone/>
              <a:defRPr b="1" sz="2000">
                <a:latin typeface="Times New Roman"/>
                <a:ea typeface="Times New Roman"/>
                <a:cs typeface="Times New Roman"/>
                <a:sym typeface="Times New Roman"/>
              </a:defRPr>
            </a:pPr>
            <a:r>
              <a:t>Project Goal: </a:t>
            </a:r>
            <a:r>
              <a:rPr b="0"/>
              <a:t>The main aim of this project is the detection of fraudulent credit card transactions, as it is essential to figure out the fraudulent transactions so that customers do not get charged for the purchase of products that they did not buy.</a:t>
            </a:r>
            <a:endParaRPr b="0"/>
          </a:p>
          <a:p>
            <a:pPr marL="0" indent="0" algn="just">
              <a:lnSpc>
                <a:spcPct val="100000"/>
              </a:lnSpc>
              <a:buSzTx/>
              <a:buNone/>
              <a:defRPr sz="2000">
                <a:latin typeface="Times New Roman"/>
                <a:ea typeface="Times New Roman"/>
                <a:cs typeface="Times New Roman"/>
                <a:sym typeface="Times New Roman"/>
              </a:defRPr>
            </a:pPr>
          </a:p>
          <a:p>
            <a:pPr marL="0" indent="0" algn="just">
              <a:lnSpc>
                <a:spcPct val="100000"/>
              </a:lnSpc>
              <a:buSzTx/>
              <a:buNone/>
              <a:defRPr b="1" sz="2000">
                <a:latin typeface="Times New Roman"/>
                <a:ea typeface="Times New Roman"/>
                <a:cs typeface="Times New Roman"/>
                <a:sym typeface="Times New Roman"/>
              </a:defRPr>
            </a:pPr>
            <a:r>
              <a:t>Research question: </a:t>
            </a:r>
            <a:r>
              <a:rPr b="0"/>
              <a:t>What machine learning model is most suited for detecting fraudulent credit card transactions?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itle 1"/>
          <p:cNvSpPr txBox="1"/>
          <p:nvPr>
            <p:ph type="title"/>
          </p:nvPr>
        </p:nvSpPr>
        <p:spPr>
          <a:xfrm>
            <a:off x="838200" y="365125"/>
            <a:ext cx="10515600" cy="1325563"/>
          </a:xfrm>
          <a:prstGeom prst="rect">
            <a:avLst/>
          </a:prstGeom>
        </p:spPr>
        <p:txBody>
          <a:bodyPr/>
          <a:lstStyle/>
          <a:p>
            <a:pPr/>
            <a:r>
              <a:t>Literature Review</a:t>
            </a:r>
          </a:p>
        </p:txBody>
      </p:sp>
      <p:sp>
        <p:nvSpPr>
          <p:cNvPr id="101" name="Content Placeholder 2"/>
          <p:cNvSpPr txBox="1"/>
          <p:nvPr>
            <p:ph type="body" idx="1"/>
          </p:nvPr>
        </p:nvSpPr>
        <p:spPr>
          <a:xfrm>
            <a:off x="838200" y="1825625"/>
            <a:ext cx="10515600" cy="4351338"/>
          </a:xfrm>
          <a:prstGeom prst="rect">
            <a:avLst/>
          </a:prstGeom>
        </p:spPr>
        <p:txBody>
          <a:bodyPr/>
          <a:lstStyle/>
          <a:p>
            <a:pPr algn="just">
              <a:defRPr sz="1800">
                <a:latin typeface="Times New Roman"/>
                <a:ea typeface="Times New Roman"/>
                <a:cs typeface="Times New Roman"/>
                <a:sym typeface="Times New Roman"/>
              </a:defRPr>
            </a:pPr>
            <a:r>
              <a:t>The model used by Alenzi and Aljehane to detect Fraud in credit cards was Logis- tic Regression. Their model scored 97.2% in Accuracy, 97% sensitivity and 2.8% Error Rate.[1]</a:t>
            </a:r>
          </a:p>
          <a:p>
            <a:pPr algn="just">
              <a:defRPr sz="1800">
                <a:latin typeface="Times New Roman"/>
                <a:ea typeface="Times New Roman"/>
                <a:cs typeface="Times New Roman"/>
                <a:sym typeface="Times New Roman"/>
              </a:defRPr>
            </a:pPr>
            <a:r>
              <a:t>Dighe and his team used KNN, Logistic Regression and Neural Networks, multi- layer perceptron and Decision Tree in their work, then evaluated the results regarding numerous accuracy metrics. Of all the models created, the best performing one is KNN, which scored 99.13%, then in second place performing model at 96.40% and in last place is logistic Regression with 96.27%.[2]</a:t>
            </a:r>
          </a:p>
          <a:p>
            <a:pPr algn="just">
              <a:defRPr sz="1800">
                <a:latin typeface="Times New Roman"/>
                <a:ea typeface="Times New Roman"/>
                <a:cs typeface="Times New Roman"/>
                <a:sym typeface="Times New Roman"/>
              </a:defRPr>
            </a:pPr>
            <a:r>
              <a:t>Sahin and Duman used four Support Vector Machine methods in detecting credit card fraud. (SVM) Support Vector Machine with RBF, Polynomial, Sigmoid, and Linear Kernel,all models scored 99.87% in the training model and 83.02% in the test- ing part of the model.[3]</a:t>
            </a:r>
          </a:p>
          <a:p>
            <a:pPr algn="just">
              <a:defRPr sz="1800">
                <a:latin typeface="Times New Roman"/>
                <a:ea typeface="Times New Roman"/>
                <a:cs typeface="Times New Roman"/>
                <a:sym typeface="Times New Roman"/>
              </a:defRPr>
            </a:pPr>
            <a:r>
              <a:t>Maniraj’s team built a model to recognize if any new transaction is Fraud or non- fraud. Their goal was to get 100% in detecting fraudulent transactions andtry to minimize the incorrectly classified fraud instances. Their model has performed well as they got 99.7% of the fraudulent transactions.[4]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Title 1"/>
          <p:cNvSpPr txBox="1"/>
          <p:nvPr>
            <p:ph type="title"/>
          </p:nvPr>
        </p:nvSpPr>
        <p:spPr>
          <a:xfrm>
            <a:off x="838200" y="365125"/>
            <a:ext cx="10515600" cy="1325563"/>
          </a:xfrm>
          <a:prstGeom prst="rect">
            <a:avLst/>
          </a:prstGeom>
        </p:spPr>
        <p:txBody>
          <a:bodyPr/>
          <a:lstStyle/>
          <a:p>
            <a:pPr/>
            <a:r>
              <a:t>Data Description</a:t>
            </a:r>
          </a:p>
        </p:txBody>
      </p:sp>
      <p:sp>
        <p:nvSpPr>
          <p:cNvPr id="104" name="Content Placeholder 2"/>
          <p:cNvSpPr txBox="1"/>
          <p:nvPr>
            <p:ph type="body" sz="half" idx="1"/>
          </p:nvPr>
        </p:nvSpPr>
        <p:spPr>
          <a:xfrm>
            <a:off x="838200" y="1847691"/>
            <a:ext cx="10515600" cy="2937670"/>
          </a:xfrm>
          <a:prstGeom prst="rect">
            <a:avLst/>
          </a:prstGeom>
        </p:spPr>
        <p:txBody>
          <a:bodyPr/>
          <a:lstStyle/>
          <a:p>
            <a:pPr>
              <a:defRPr b="1" sz="1600">
                <a:latin typeface="Times New Roman"/>
                <a:ea typeface="Times New Roman"/>
                <a:cs typeface="Times New Roman"/>
                <a:sym typeface="Times New Roman"/>
              </a:defRPr>
            </a:pPr>
            <a:r>
              <a:t>Data Description: </a:t>
            </a:r>
            <a:r>
              <a:rPr b="0" sz="1400"/>
              <a:t>The dataset was retrieved from an open-source website, Kaggle.com. It con- tains data on transactions made in 2013 by European credit card users in two days only. The dataset consists of 31 attributes and 284,808 rows.</a:t>
            </a:r>
            <a:endParaRPr b="0" sz="1400"/>
          </a:p>
          <a:p>
            <a:pPr>
              <a:defRPr sz="1600">
                <a:latin typeface="Times New Roman"/>
                <a:ea typeface="Times New Roman"/>
                <a:cs typeface="Times New Roman"/>
                <a:sym typeface="Times New Roman"/>
              </a:defRPr>
            </a:pPr>
          </a:p>
          <a:p>
            <a:pPr lvl="1" marL="685800" indent="-228600">
              <a:spcBef>
                <a:spcPts val="500"/>
              </a:spcBef>
              <a:defRPr sz="1200">
                <a:latin typeface="Times New Roman"/>
                <a:ea typeface="Times New Roman"/>
                <a:cs typeface="Times New Roman"/>
                <a:sym typeface="Times New Roman"/>
              </a:defRPr>
            </a:pPr>
            <a:r>
              <a:t>Twenty-eight attributes are numeric variables that, due to the confidentiality and privacy of the customers.</a:t>
            </a:r>
            <a:endParaRPr sz="2400"/>
          </a:p>
          <a:p>
            <a:pPr lvl="1" marL="685800" indent="-228600">
              <a:spcBef>
                <a:spcPts val="500"/>
              </a:spcBef>
              <a:defRPr sz="1200">
                <a:latin typeface="Times New Roman"/>
                <a:ea typeface="Times New Roman"/>
                <a:cs typeface="Times New Roman"/>
                <a:sym typeface="Times New Roman"/>
              </a:defRPr>
            </a:pPr>
            <a:r>
              <a:t>Time: which contains the elapsed seconds between the first and other transactions of each Attribute.</a:t>
            </a:r>
            <a:endParaRPr sz="2400"/>
          </a:p>
          <a:p>
            <a:pPr lvl="1" marL="685800" indent="-228600">
              <a:spcBef>
                <a:spcPts val="500"/>
              </a:spcBef>
              <a:defRPr sz="1200">
                <a:latin typeface="Times New Roman"/>
                <a:ea typeface="Times New Roman"/>
                <a:cs typeface="Times New Roman"/>
                <a:sym typeface="Times New Roman"/>
              </a:defRPr>
            </a:pPr>
            <a:r>
              <a:t>Amount : Which is the amount of each transaction</a:t>
            </a:r>
            <a:endParaRPr sz="2400"/>
          </a:p>
          <a:p>
            <a:pPr lvl="1" marL="685800" indent="-228600">
              <a:spcBef>
                <a:spcPts val="500"/>
              </a:spcBef>
              <a:defRPr sz="1200">
                <a:latin typeface="Times New Roman"/>
                <a:ea typeface="Times New Roman"/>
                <a:cs typeface="Times New Roman"/>
                <a:sym typeface="Times New Roman"/>
              </a:defRPr>
            </a:pPr>
            <a:r>
              <a:t>Class : which contains binary variables where</a:t>
            </a:r>
            <a:r>
              <a:rPr b="1"/>
              <a:t> 1 </a:t>
            </a:r>
            <a:r>
              <a:t>is a case of fraudulent transaction, and </a:t>
            </a:r>
            <a:r>
              <a:rPr b="1"/>
              <a:t>0</a:t>
            </a:r>
            <a:r>
              <a:t> is not as case of fraudulent transaction.</a:t>
            </a:r>
            <a:endParaRPr sz="2400"/>
          </a:p>
          <a:p>
            <a:pPr lvl="1" marL="0" indent="457200">
              <a:spcBef>
                <a:spcPts val="500"/>
              </a:spcBef>
              <a:buSzTx/>
              <a:buNone/>
              <a:defRPr sz="1200">
                <a:latin typeface="Times New Roman"/>
                <a:ea typeface="Times New Roman"/>
                <a:cs typeface="Times New Roman"/>
                <a:sym typeface="Times New Roman"/>
              </a:defRPr>
            </a:pPr>
          </a:p>
          <a:p>
            <a:pPr>
              <a:defRPr b="1" sz="1600">
                <a:latin typeface="Times New Roman"/>
                <a:ea typeface="Times New Roman"/>
                <a:cs typeface="Times New Roman"/>
                <a:sym typeface="Times New Roman"/>
              </a:defRPr>
            </a:pPr>
            <a:r>
              <a:t>Dataset : </a:t>
            </a:r>
            <a:r>
              <a:rPr b="0"/>
              <a:t>https://www.kaggle.com/datasets/mlg-ulb/creditcardfraud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Title 1"/>
          <p:cNvSpPr txBox="1"/>
          <p:nvPr>
            <p:ph type="title"/>
          </p:nvPr>
        </p:nvSpPr>
        <p:spPr>
          <a:xfrm>
            <a:off x="784859" y="395605"/>
            <a:ext cx="10515601" cy="861695"/>
          </a:xfrm>
          <a:prstGeom prst="rect">
            <a:avLst/>
          </a:prstGeom>
        </p:spPr>
        <p:txBody>
          <a:bodyPr/>
          <a:lstStyle/>
          <a:p>
            <a:pPr/>
            <a:r>
              <a:t>Data Analysis </a:t>
            </a:r>
          </a:p>
        </p:txBody>
      </p:sp>
      <p:sp>
        <p:nvSpPr>
          <p:cNvPr id="107" name="Content Placeholder 2"/>
          <p:cNvSpPr txBox="1"/>
          <p:nvPr>
            <p:ph type="body" sz="quarter" idx="1"/>
          </p:nvPr>
        </p:nvSpPr>
        <p:spPr>
          <a:xfrm>
            <a:off x="1165860" y="5250179"/>
            <a:ext cx="3375660" cy="410449"/>
          </a:xfrm>
          <a:prstGeom prst="rect">
            <a:avLst/>
          </a:prstGeom>
        </p:spPr>
        <p:txBody>
          <a:bodyPr/>
          <a:lstStyle>
            <a:lvl1pPr marL="0" indent="0" algn="ctr">
              <a:buSzTx/>
              <a:buNone/>
              <a:defRPr sz="1800"/>
            </a:lvl1pPr>
          </a:lstStyle>
          <a:p>
            <a:pPr/>
            <a:r>
              <a:t>Check Null Data</a:t>
            </a:r>
          </a:p>
        </p:txBody>
      </p:sp>
      <p:pic>
        <p:nvPicPr>
          <p:cNvPr id="108" name="Picture 4" descr="Picture 4"/>
          <p:cNvPicPr>
            <a:picLocks noChangeAspect="1"/>
          </p:cNvPicPr>
          <p:nvPr/>
        </p:nvPicPr>
        <p:blipFill>
          <a:blip r:embed="rId2">
            <a:extLst/>
          </a:blip>
          <a:stretch>
            <a:fillRect/>
          </a:stretch>
        </p:blipFill>
        <p:spPr>
          <a:xfrm>
            <a:off x="929639" y="1368424"/>
            <a:ext cx="4000548" cy="3698876"/>
          </a:xfrm>
          <a:prstGeom prst="rect">
            <a:avLst/>
          </a:prstGeom>
          <a:ln w="12700">
            <a:miter lim="400000"/>
          </a:ln>
        </p:spPr>
      </p:pic>
      <p:pic>
        <p:nvPicPr>
          <p:cNvPr id="109" name="Content Placeholder 4" descr="Content Placeholder 4"/>
          <p:cNvPicPr>
            <a:picLocks noChangeAspect="1"/>
          </p:cNvPicPr>
          <p:nvPr/>
        </p:nvPicPr>
        <p:blipFill>
          <a:blip r:embed="rId3">
            <a:extLst/>
          </a:blip>
          <a:stretch>
            <a:fillRect/>
          </a:stretch>
        </p:blipFill>
        <p:spPr>
          <a:xfrm>
            <a:off x="6042659" y="1368424"/>
            <a:ext cx="4959320" cy="3698876"/>
          </a:xfrm>
          <a:prstGeom prst="rect">
            <a:avLst/>
          </a:prstGeom>
          <a:ln w="12700">
            <a:miter lim="400000"/>
          </a:ln>
        </p:spPr>
      </p:pic>
      <p:sp>
        <p:nvSpPr>
          <p:cNvPr id="110" name="TextBox 11"/>
          <p:cNvSpPr txBox="1"/>
          <p:nvPr/>
        </p:nvSpPr>
        <p:spPr>
          <a:xfrm>
            <a:off x="7836518" y="5250179"/>
            <a:ext cx="2133601" cy="3330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Data Correlation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itle 1"/>
          <p:cNvSpPr txBox="1"/>
          <p:nvPr>
            <p:ph type="title"/>
          </p:nvPr>
        </p:nvSpPr>
        <p:spPr>
          <a:xfrm>
            <a:off x="838200" y="365125"/>
            <a:ext cx="10515600" cy="1174115"/>
          </a:xfrm>
          <a:prstGeom prst="rect">
            <a:avLst/>
          </a:prstGeom>
        </p:spPr>
        <p:txBody>
          <a:bodyPr/>
          <a:lstStyle/>
          <a:p>
            <a:pPr/>
            <a:r>
              <a:t>Continue</a:t>
            </a:r>
          </a:p>
        </p:txBody>
      </p:sp>
      <p:pic>
        <p:nvPicPr>
          <p:cNvPr id="113" name="Content Placeholder 11" descr="Content Placeholder 11"/>
          <p:cNvPicPr>
            <a:picLocks noChangeAspect="1"/>
          </p:cNvPicPr>
          <p:nvPr/>
        </p:nvPicPr>
        <p:blipFill>
          <a:blip r:embed="rId2">
            <a:extLst/>
          </a:blip>
          <a:stretch>
            <a:fillRect/>
          </a:stretch>
        </p:blipFill>
        <p:spPr>
          <a:xfrm>
            <a:off x="1854517" y="1781016"/>
            <a:ext cx="8239126" cy="3571876"/>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Title 1"/>
          <p:cNvSpPr txBox="1"/>
          <p:nvPr>
            <p:ph type="title"/>
          </p:nvPr>
        </p:nvSpPr>
        <p:spPr>
          <a:xfrm>
            <a:off x="838200" y="365125"/>
            <a:ext cx="10515600" cy="1014095"/>
          </a:xfrm>
          <a:prstGeom prst="rect">
            <a:avLst/>
          </a:prstGeom>
        </p:spPr>
        <p:txBody>
          <a:bodyPr/>
          <a:lstStyle/>
          <a:p>
            <a:pPr/>
            <a:r>
              <a:t>Methodology</a:t>
            </a:r>
          </a:p>
        </p:txBody>
      </p:sp>
      <p:pic>
        <p:nvPicPr>
          <p:cNvPr id="116" name="Content Placeholder 4" descr="Content Placeholder 4"/>
          <p:cNvPicPr>
            <a:picLocks noChangeAspect="1"/>
          </p:cNvPicPr>
          <p:nvPr/>
        </p:nvPicPr>
        <p:blipFill>
          <a:blip r:embed="rId2">
            <a:extLst/>
          </a:blip>
          <a:stretch>
            <a:fillRect/>
          </a:stretch>
        </p:blipFill>
        <p:spPr>
          <a:xfrm>
            <a:off x="7414259" y="1980089"/>
            <a:ext cx="4347607" cy="3011011"/>
          </a:xfrm>
          <a:prstGeom prst="rect">
            <a:avLst/>
          </a:prstGeom>
          <a:ln w="12700">
            <a:miter lim="400000"/>
          </a:ln>
        </p:spPr>
      </p:pic>
      <p:sp>
        <p:nvSpPr>
          <p:cNvPr id="117" name="TextBox 5"/>
          <p:cNvSpPr txBox="1"/>
          <p:nvPr/>
        </p:nvSpPr>
        <p:spPr>
          <a:xfrm>
            <a:off x="952499" y="1379219"/>
            <a:ext cx="7101842" cy="43321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100"/>
            </a:pPr>
            <a:r>
              <a:t>Data collection:</a:t>
            </a:r>
          </a:p>
          <a:p>
            <a:pPr>
              <a:defRPr sz="1400"/>
            </a:pPr>
            <a:r>
              <a:t>The first phase will involve collecting a dataset of historical credit card transactions. The</a:t>
            </a:r>
          </a:p>
          <a:p>
            <a:pPr>
              <a:defRPr sz="1400"/>
            </a:pPr>
            <a:r>
              <a:t>data will be collected from various sources, including banks, credit card companies, and</a:t>
            </a:r>
          </a:p>
          <a:p>
            <a:pPr>
              <a:defRPr sz="1400"/>
            </a:pPr>
            <a:r>
              <a:t>merchants.</a:t>
            </a:r>
          </a:p>
          <a:p>
            <a:pPr>
              <a:defRPr b="1" sz="1400"/>
            </a:pPr>
            <a:r>
              <a:t>Data Cleaning:</a:t>
            </a:r>
          </a:p>
          <a:p>
            <a:pPr marL="171450" indent="-171450">
              <a:buSzPct val="100000"/>
              <a:buFont typeface="Arial"/>
              <a:buChar char="•"/>
              <a:defRPr sz="1400"/>
            </a:pPr>
            <a:r>
              <a:t>Impute the missing values with the column's mean, median, or mode.</a:t>
            </a:r>
          </a:p>
          <a:p>
            <a:pPr marL="171450" indent="-171450">
              <a:buSzPct val="100000"/>
              <a:buFont typeface="Arial"/>
              <a:buChar char="•"/>
              <a:defRPr sz="1400"/>
            </a:pPr>
            <a:r>
              <a:t>Drop the rows with missing values.</a:t>
            </a:r>
          </a:p>
          <a:p>
            <a:pPr marL="171450" indent="-171450">
              <a:buSzPct val="100000"/>
              <a:buFont typeface="Arial"/>
              <a:buChar char="•"/>
              <a:defRPr sz="1400"/>
            </a:pPr>
            <a:r>
              <a:t>Use a machine learning model to predict the missing values like isnull() and heatmap().</a:t>
            </a:r>
          </a:p>
          <a:p>
            <a:pPr>
              <a:defRPr b="1" sz="1400"/>
            </a:pPr>
            <a:r>
              <a:t>Normalize the data:</a:t>
            </a:r>
          </a:p>
          <a:p>
            <a:pPr>
              <a:defRPr sz="1400"/>
            </a:pPr>
            <a:r>
              <a:t>Normalization is scaling the data so that all features have similar values. This can</a:t>
            </a:r>
          </a:p>
          <a:p>
            <a:pPr>
              <a:defRPr sz="1400"/>
            </a:pPr>
            <a:r>
              <a:t>improve the performance of machine learning models by making the parts more</a:t>
            </a:r>
          </a:p>
          <a:p>
            <a:pPr>
              <a:defRPr sz="1400"/>
            </a:pPr>
            <a:r>
              <a:t>comparable.</a:t>
            </a:r>
          </a:p>
          <a:p>
            <a:pPr>
              <a:defRPr b="1" sz="1400"/>
            </a:pPr>
            <a:r>
              <a:t>Model training:</a:t>
            </a:r>
          </a:p>
          <a:p>
            <a:pPr>
              <a:defRPr sz="1400"/>
            </a:pPr>
            <a:r>
              <a:t>The second phase will involve training the machine learning model on the collected data.</a:t>
            </a:r>
          </a:p>
          <a:p>
            <a:pPr>
              <a:defRPr sz="1400"/>
            </a:pPr>
            <a:r>
              <a:t>The model will be prepared using a supervised learning algorithm like SVM.</a:t>
            </a:r>
          </a:p>
          <a:p>
            <a:pPr>
              <a:defRPr b="1" sz="1400"/>
            </a:pPr>
            <a:r>
              <a:t>Model evaluation:</a:t>
            </a:r>
          </a:p>
          <a:p>
            <a:pPr>
              <a:defRPr sz="1400"/>
            </a:pPr>
            <a:r>
              <a:t>The third phase will involve evaluating the machine learning model's performance on a</a:t>
            </a:r>
          </a:p>
          <a:p>
            <a:pPr>
              <a:defRPr sz="1400"/>
            </a:pPr>
            <a:r>
              <a:t>holdout dataset of unseen transactions. The model's performance will be evaluated using</a:t>
            </a:r>
          </a:p>
          <a:p>
            <a:pPr>
              <a:defRPr sz="1400"/>
            </a:pPr>
            <a:r>
              <a:t>accuracy, precision, and recall metrics.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Title 1"/>
          <p:cNvSpPr txBox="1"/>
          <p:nvPr>
            <p:ph type="title"/>
          </p:nvPr>
        </p:nvSpPr>
        <p:spPr>
          <a:xfrm>
            <a:off x="838200" y="365125"/>
            <a:ext cx="10515600" cy="1325563"/>
          </a:xfrm>
          <a:prstGeom prst="rect">
            <a:avLst/>
          </a:prstGeom>
        </p:spPr>
        <p:txBody>
          <a:bodyPr/>
          <a:lstStyle/>
          <a:p>
            <a:pPr/>
            <a:r>
              <a:t>Results</a:t>
            </a:r>
          </a:p>
        </p:txBody>
      </p:sp>
      <p:sp>
        <p:nvSpPr>
          <p:cNvPr id="120" name="Content Placeholder 2"/>
          <p:cNvSpPr txBox="1"/>
          <p:nvPr>
            <p:ph type="body" sz="quarter" idx="1"/>
          </p:nvPr>
        </p:nvSpPr>
        <p:spPr>
          <a:xfrm>
            <a:off x="838200" y="1825625"/>
            <a:ext cx="3954780" cy="3996055"/>
          </a:xfrm>
          <a:prstGeom prst="rect">
            <a:avLst/>
          </a:prstGeom>
        </p:spPr>
        <p:txBody>
          <a:bodyPr/>
          <a:lstStyle/>
          <a:p>
            <a:pPr marL="0" indent="0" defTabSz="868680">
              <a:spcBef>
                <a:spcPts val="900"/>
              </a:spcBef>
              <a:buSzTx/>
              <a:buNone/>
              <a:defRPr b="1" sz="2375"/>
            </a:pPr>
            <a:r>
              <a:t>K-Nearest Neighbor (KNN):</a:t>
            </a:r>
          </a:p>
          <a:p>
            <a:pPr marL="0" indent="0" algn="just" defTabSz="868680">
              <a:spcBef>
                <a:spcPts val="900"/>
              </a:spcBef>
              <a:buSzTx/>
              <a:buNone/>
              <a:defRPr sz="1140"/>
            </a:pPr>
            <a:r>
              <a:t>Two Ks were used to determine the best KNN model, K=3 and K =7.</a:t>
            </a:r>
            <a:endParaRPr sz="2375"/>
          </a:p>
          <a:p>
            <a:pPr marL="217170" indent="-217170" algn="just" defTabSz="868680">
              <a:spcBef>
                <a:spcPts val="900"/>
              </a:spcBef>
              <a:defRPr sz="1140"/>
            </a:pPr>
            <a:r>
              <a:t> K = 3 While making the KNN model, We created two models: K =3 and K =7. </a:t>
            </a:r>
            <a:endParaRPr sz="2375"/>
          </a:p>
          <a:p>
            <a:pPr marL="0" indent="0" algn="just" defTabSz="868680">
              <a:spcBef>
                <a:spcPts val="900"/>
              </a:spcBef>
              <a:buSzTx/>
              <a:buNone/>
              <a:defRPr sz="1140"/>
            </a:pPr>
            <a:r>
              <a:t>    Figure 5 shows the model created in Jupiter Notebook; the model scored an accuracy </a:t>
            </a:r>
            <a:endParaRPr sz="2375"/>
          </a:p>
          <a:p>
            <a:pPr marL="0" indent="0" algn="just" defTabSz="868680">
              <a:spcBef>
                <a:spcPts val="900"/>
              </a:spcBef>
              <a:buSzTx/>
              <a:buNone/>
              <a:defRPr sz="1140"/>
            </a:pPr>
            <a:r>
              <a:t>    of 100% and identified 85,443 transactions correctly and missed 131.</a:t>
            </a:r>
            <a:endParaRPr sz="2375"/>
          </a:p>
          <a:p>
            <a:pPr marL="0" indent="0" algn="just" defTabSz="868680">
              <a:spcBef>
                <a:spcPts val="900"/>
              </a:spcBef>
              <a:buSzTx/>
              <a:buNone/>
              <a:defRPr sz="1140"/>
            </a:pPr>
            <a:r>
              <a:t>•   K=7</a:t>
            </a:r>
            <a:endParaRPr sz="2375"/>
          </a:p>
          <a:p>
            <a:pPr marL="0" indent="0" algn="just" defTabSz="868680">
              <a:spcBef>
                <a:spcPts val="900"/>
              </a:spcBef>
              <a:buSzTx/>
              <a:buNone/>
              <a:defRPr sz="1140"/>
            </a:pPr>
            <a:r>
              <a:t>There was a slight decrease in the Accuracy of the model created in Jupiter Note- </a:t>
            </a:r>
            <a:endParaRPr sz="2375"/>
          </a:p>
          <a:p>
            <a:pPr marL="0" indent="0" algn="just" defTabSz="868680">
              <a:spcBef>
                <a:spcPts val="900"/>
              </a:spcBef>
              <a:buSzTx/>
              <a:buNone/>
              <a:defRPr sz="1140"/>
            </a:pPr>
            <a:r>
              <a:t>book as it scored 100% when K is 7, and the model miss classified 131 fraudulent transactions as no fraudulent. As for the Accuracy is the same as K=3 </a:t>
            </a:r>
            <a:endParaRPr sz="2375"/>
          </a:p>
          <a:p>
            <a:pPr marL="0" indent="0" algn="just" defTabSz="868680">
              <a:spcBef>
                <a:spcPts val="900"/>
              </a:spcBef>
              <a:buSzTx/>
              <a:buNone/>
              <a:defRPr sz="1140"/>
            </a:pPr>
            <a:r>
              <a:t>100% with 52 misclassified transactions </a:t>
            </a:r>
            <a:r>
              <a:rPr sz="1235"/>
              <a:t>.</a:t>
            </a:r>
          </a:p>
        </p:txBody>
      </p:sp>
      <p:pic>
        <p:nvPicPr>
          <p:cNvPr id="121" name="Picture 5" descr="Picture 5"/>
          <p:cNvPicPr>
            <a:picLocks noChangeAspect="1"/>
          </p:cNvPicPr>
          <p:nvPr/>
        </p:nvPicPr>
        <p:blipFill>
          <a:blip r:embed="rId2">
            <a:extLst/>
          </a:blip>
          <a:stretch>
            <a:fillRect/>
          </a:stretch>
        </p:blipFill>
        <p:spPr>
          <a:xfrm>
            <a:off x="8164606" y="3077529"/>
            <a:ext cx="3585334" cy="2134553"/>
          </a:xfrm>
          <a:prstGeom prst="rect">
            <a:avLst/>
          </a:prstGeom>
          <a:ln w="12700">
            <a:miter lim="400000"/>
          </a:ln>
        </p:spPr>
      </p:pic>
      <p:pic>
        <p:nvPicPr>
          <p:cNvPr id="122" name="Picture 7" descr="Picture 7"/>
          <p:cNvPicPr>
            <a:picLocks noChangeAspect="1"/>
          </p:cNvPicPr>
          <p:nvPr/>
        </p:nvPicPr>
        <p:blipFill>
          <a:blip r:embed="rId3">
            <a:extLst/>
          </a:blip>
          <a:stretch>
            <a:fillRect/>
          </a:stretch>
        </p:blipFill>
        <p:spPr>
          <a:xfrm>
            <a:off x="4960620" y="2234564"/>
            <a:ext cx="3036347" cy="1964056"/>
          </a:xfrm>
          <a:prstGeom prst="rect">
            <a:avLst/>
          </a:prstGeom>
          <a:ln w="12700">
            <a:miter lim="400000"/>
          </a:ln>
        </p:spPr>
      </p:pic>
      <p:pic>
        <p:nvPicPr>
          <p:cNvPr id="123" name="Picture 9" descr="Picture 9"/>
          <p:cNvPicPr>
            <a:picLocks noChangeAspect="1"/>
          </p:cNvPicPr>
          <p:nvPr/>
        </p:nvPicPr>
        <p:blipFill>
          <a:blip r:embed="rId4">
            <a:extLst/>
          </a:blip>
          <a:stretch>
            <a:fillRect/>
          </a:stretch>
        </p:blipFill>
        <p:spPr>
          <a:xfrm>
            <a:off x="5085586" y="4198620"/>
            <a:ext cx="2766193" cy="1652589"/>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Title 1"/>
          <p:cNvSpPr txBox="1"/>
          <p:nvPr>
            <p:ph type="title"/>
          </p:nvPr>
        </p:nvSpPr>
        <p:spPr>
          <a:xfrm>
            <a:off x="838200" y="365125"/>
            <a:ext cx="10515600" cy="1325563"/>
          </a:xfrm>
          <a:prstGeom prst="rect">
            <a:avLst/>
          </a:prstGeom>
        </p:spPr>
        <p:txBody>
          <a:bodyPr/>
          <a:lstStyle/>
          <a:p>
            <a:pPr/>
            <a:r>
              <a:t>Continue</a:t>
            </a:r>
          </a:p>
        </p:txBody>
      </p:sp>
      <p:sp>
        <p:nvSpPr>
          <p:cNvPr id="126" name="Content Placeholder 2"/>
          <p:cNvSpPr txBox="1"/>
          <p:nvPr>
            <p:ph type="body" idx="1"/>
          </p:nvPr>
        </p:nvSpPr>
        <p:spPr>
          <a:xfrm>
            <a:off x="838200" y="1825625"/>
            <a:ext cx="10515600" cy="4351338"/>
          </a:xfrm>
          <a:prstGeom prst="rect">
            <a:avLst/>
          </a:prstGeom>
        </p:spPr>
        <p:txBody>
          <a:bodyPr/>
          <a:lstStyle/>
          <a:p>
            <a:pPr lvl="1" marL="0" indent="457200">
              <a:spcBef>
                <a:spcPts val="500"/>
              </a:spcBef>
              <a:buSzTx/>
              <a:buNone/>
              <a:defRPr b="1" sz="2000"/>
            </a:pPr>
            <a:r>
              <a:t>Logistic Regression (L.R.):</a:t>
            </a:r>
            <a:endParaRPr sz="2400"/>
          </a:p>
          <a:p>
            <a:pPr lvl="1" marL="685800" indent="-228600">
              <a:spcBef>
                <a:spcPts val="500"/>
              </a:spcBef>
              <a:defRPr sz="1600"/>
            </a:pPr>
            <a:r>
              <a:t>The last model created using Jupiter Notebook is Logistic Regression; the model managed to score an Accuracy on Training data of 93.51% , while it scored an Accuracy score on Test Data of 91.88%, as presented in blew Figure.</a:t>
            </a:r>
          </a:p>
        </p:txBody>
      </p:sp>
      <p:pic>
        <p:nvPicPr>
          <p:cNvPr id="127" name="Picture 4" descr="Picture 4"/>
          <p:cNvPicPr>
            <a:picLocks noChangeAspect="1"/>
          </p:cNvPicPr>
          <p:nvPr/>
        </p:nvPicPr>
        <p:blipFill>
          <a:blip r:embed="rId2">
            <a:extLst/>
          </a:blip>
          <a:stretch>
            <a:fillRect/>
          </a:stretch>
        </p:blipFill>
        <p:spPr>
          <a:xfrm>
            <a:off x="3169920" y="2596357"/>
            <a:ext cx="5530837" cy="1346834"/>
          </a:xfrm>
          <a:prstGeom prst="rect">
            <a:avLst/>
          </a:prstGeom>
          <a:ln w="12700">
            <a:miter lim="400000"/>
          </a:ln>
        </p:spPr>
      </p:pic>
      <p:pic>
        <p:nvPicPr>
          <p:cNvPr id="128" name="Picture 10" descr="Picture 10"/>
          <p:cNvPicPr>
            <a:picLocks noChangeAspect="1"/>
          </p:cNvPicPr>
          <p:nvPr/>
        </p:nvPicPr>
        <p:blipFill>
          <a:blip r:embed="rId3">
            <a:extLst/>
          </a:blip>
          <a:stretch>
            <a:fillRect/>
          </a:stretch>
        </p:blipFill>
        <p:spPr>
          <a:xfrm>
            <a:off x="3169920" y="4315221"/>
            <a:ext cx="6000751" cy="1019176"/>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itle 1"/>
          <p:cNvSpPr txBox="1"/>
          <p:nvPr>
            <p:ph type="title"/>
          </p:nvPr>
        </p:nvSpPr>
        <p:spPr>
          <a:xfrm>
            <a:off x="838200" y="365125"/>
            <a:ext cx="10515600" cy="853757"/>
          </a:xfrm>
          <a:prstGeom prst="rect">
            <a:avLst/>
          </a:prstGeom>
        </p:spPr>
        <p:txBody>
          <a:bodyPr/>
          <a:lstStyle/>
          <a:p>
            <a:pPr/>
            <a:r>
              <a:t>Continue</a:t>
            </a:r>
          </a:p>
        </p:txBody>
      </p:sp>
      <p:sp>
        <p:nvSpPr>
          <p:cNvPr id="131" name="Content Placeholder 2"/>
          <p:cNvSpPr txBox="1"/>
          <p:nvPr>
            <p:ph type="body" idx="1"/>
          </p:nvPr>
        </p:nvSpPr>
        <p:spPr>
          <a:xfrm>
            <a:off x="838200" y="1140017"/>
            <a:ext cx="10515600" cy="4351338"/>
          </a:xfrm>
          <a:prstGeom prst="rect">
            <a:avLst/>
          </a:prstGeom>
        </p:spPr>
        <p:txBody>
          <a:bodyPr/>
          <a:lstStyle/>
          <a:p>
            <a:pPr marL="0" indent="0">
              <a:buSzTx/>
              <a:buNone/>
            </a:pPr>
            <a:r>
              <a:t>Support Vector Machine (SVM):</a:t>
            </a:r>
          </a:p>
          <a:p>
            <a:pPr marL="0" indent="0">
              <a:buSzTx/>
              <a:buNone/>
              <a:defRPr sz="1800">
                <a:latin typeface="Times New Roman"/>
                <a:ea typeface="Times New Roman"/>
                <a:cs typeface="Times New Roman"/>
                <a:sym typeface="Times New Roman"/>
              </a:defRPr>
            </a:pPr>
            <a:r>
              <a:t>The model Support Vector Machine, as shown in blew Figure , scored 97.59% for the Accuracy.</a:t>
            </a:r>
          </a:p>
        </p:txBody>
      </p:sp>
      <p:pic>
        <p:nvPicPr>
          <p:cNvPr id="132" name="Picture 4" descr="Picture 4"/>
          <p:cNvPicPr>
            <a:picLocks noChangeAspect="1"/>
          </p:cNvPicPr>
          <p:nvPr/>
        </p:nvPicPr>
        <p:blipFill>
          <a:blip r:embed="rId2">
            <a:extLst/>
          </a:blip>
          <a:stretch>
            <a:fillRect/>
          </a:stretch>
        </p:blipFill>
        <p:spPr>
          <a:xfrm>
            <a:off x="1599648" y="2361644"/>
            <a:ext cx="3467653" cy="2687432"/>
          </a:xfrm>
          <a:prstGeom prst="rect">
            <a:avLst/>
          </a:prstGeom>
          <a:ln w="12700">
            <a:miter lim="400000"/>
          </a:ln>
        </p:spPr>
      </p:pic>
      <p:sp>
        <p:nvSpPr>
          <p:cNvPr id="133" name="TextBox 5"/>
          <p:cNvSpPr txBox="1"/>
          <p:nvPr/>
        </p:nvSpPr>
        <p:spPr>
          <a:xfrm>
            <a:off x="1303295" y="5868589"/>
            <a:ext cx="2537461" cy="3330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SVM Confusion Matrix</a:t>
            </a:r>
          </a:p>
        </p:txBody>
      </p:sp>
      <p:pic>
        <p:nvPicPr>
          <p:cNvPr id="134" name="Picture 7" descr="Picture 7"/>
          <p:cNvPicPr>
            <a:picLocks noChangeAspect="1"/>
          </p:cNvPicPr>
          <p:nvPr/>
        </p:nvPicPr>
        <p:blipFill>
          <a:blip r:embed="rId3">
            <a:extLst/>
          </a:blip>
          <a:stretch>
            <a:fillRect/>
          </a:stretch>
        </p:blipFill>
        <p:spPr>
          <a:xfrm>
            <a:off x="6393179" y="2213880"/>
            <a:ext cx="3982404" cy="2982959"/>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Title 1"/>
          <p:cNvSpPr txBox="1"/>
          <p:nvPr>
            <p:ph type="title"/>
          </p:nvPr>
        </p:nvSpPr>
        <p:spPr>
          <a:xfrm>
            <a:off x="838200" y="365124"/>
            <a:ext cx="10515600" cy="770257"/>
          </a:xfrm>
          <a:prstGeom prst="rect">
            <a:avLst/>
          </a:prstGeom>
        </p:spPr>
        <p:txBody>
          <a:bodyPr/>
          <a:lstStyle/>
          <a:p>
            <a:pPr/>
            <a:r>
              <a:t>Continue</a:t>
            </a:r>
          </a:p>
        </p:txBody>
      </p:sp>
      <p:sp>
        <p:nvSpPr>
          <p:cNvPr id="137" name="Content Placeholder 2"/>
          <p:cNvSpPr txBox="1"/>
          <p:nvPr>
            <p:ph type="body" idx="1"/>
          </p:nvPr>
        </p:nvSpPr>
        <p:spPr>
          <a:xfrm>
            <a:off x="975360" y="1135380"/>
            <a:ext cx="10515601" cy="4351338"/>
          </a:xfrm>
          <a:prstGeom prst="rect">
            <a:avLst/>
          </a:prstGeom>
        </p:spPr>
        <p:txBody>
          <a:bodyPr/>
          <a:lstStyle>
            <a:lvl1pPr marL="0" indent="0">
              <a:buSzTx/>
              <a:buNone/>
            </a:lvl1pPr>
          </a:lstStyle>
          <a:p>
            <a:pPr/>
            <a:r>
              <a:t>Decision Tree (D.T.):</a:t>
            </a:r>
          </a:p>
        </p:txBody>
      </p:sp>
      <p:pic>
        <p:nvPicPr>
          <p:cNvPr id="138" name="Picture 4" descr="Picture 4"/>
          <p:cNvPicPr>
            <a:picLocks noChangeAspect="1"/>
          </p:cNvPicPr>
          <p:nvPr/>
        </p:nvPicPr>
        <p:blipFill>
          <a:blip r:embed="rId2">
            <a:extLst/>
          </a:blip>
          <a:stretch>
            <a:fillRect/>
          </a:stretch>
        </p:blipFill>
        <p:spPr>
          <a:xfrm>
            <a:off x="4472642" y="1211580"/>
            <a:ext cx="4259879" cy="4697499"/>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Title 1"/>
          <p:cNvSpPr txBox="1"/>
          <p:nvPr>
            <p:ph type="title"/>
          </p:nvPr>
        </p:nvSpPr>
        <p:spPr>
          <a:xfrm>
            <a:off x="838200" y="365125"/>
            <a:ext cx="10515600" cy="1052195"/>
          </a:xfrm>
          <a:prstGeom prst="rect">
            <a:avLst/>
          </a:prstGeom>
        </p:spPr>
        <p:txBody>
          <a:bodyPr/>
          <a:lstStyle/>
          <a:p>
            <a:pPr/>
            <a:r>
              <a:t>Continue</a:t>
            </a:r>
          </a:p>
        </p:txBody>
      </p:sp>
      <p:pic>
        <p:nvPicPr>
          <p:cNvPr id="141" name="Content Placeholder 4" descr="Content Placeholder 4"/>
          <p:cNvPicPr>
            <a:picLocks noChangeAspect="1"/>
          </p:cNvPicPr>
          <p:nvPr/>
        </p:nvPicPr>
        <p:blipFill>
          <a:blip r:embed="rId2">
            <a:extLst/>
          </a:blip>
          <a:stretch>
            <a:fillRect/>
          </a:stretch>
        </p:blipFill>
        <p:spPr>
          <a:xfrm>
            <a:off x="2037396" y="1674971"/>
            <a:ext cx="7400926" cy="2343151"/>
          </a:xfrm>
          <a:prstGeom prst="rect">
            <a:avLst/>
          </a:prstGeom>
          <a:ln w="12700">
            <a:miter lim="400000"/>
          </a:ln>
        </p:spPr>
      </p:pic>
      <p:sp>
        <p:nvSpPr>
          <p:cNvPr id="142" name="TextBox 5"/>
          <p:cNvSpPr txBox="1"/>
          <p:nvPr/>
        </p:nvSpPr>
        <p:spPr>
          <a:xfrm>
            <a:off x="4875477" y="4275771"/>
            <a:ext cx="1717512"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Table of Accuracy</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Title 1"/>
          <p:cNvSpPr txBox="1"/>
          <p:nvPr>
            <p:ph type="title"/>
          </p:nvPr>
        </p:nvSpPr>
        <p:spPr>
          <a:xfrm>
            <a:off x="838200" y="365125"/>
            <a:ext cx="10515600" cy="1325563"/>
          </a:xfrm>
          <a:prstGeom prst="rect">
            <a:avLst/>
          </a:prstGeom>
        </p:spPr>
        <p:txBody>
          <a:bodyPr/>
          <a:lstStyle/>
          <a:p>
            <a:pPr/>
            <a:r>
              <a:t>References</a:t>
            </a:r>
          </a:p>
        </p:txBody>
      </p:sp>
      <p:sp>
        <p:nvSpPr>
          <p:cNvPr id="145" name="Content Placeholder 2"/>
          <p:cNvSpPr txBox="1"/>
          <p:nvPr>
            <p:ph type="body" idx="1"/>
          </p:nvPr>
        </p:nvSpPr>
        <p:spPr>
          <a:xfrm>
            <a:off x="838200" y="1825625"/>
            <a:ext cx="10515600" cy="4667250"/>
          </a:xfrm>
          <a:prstGeom prst="rect">
            <a:avLst/>
          </a:prstGeom>
        </p:spPr>
        <p:txBody>
          <a:bodyPr/>
          <a:lstStyle/>
          <a:p>
            <a:pPr marL="0" indent="0">
              <a:buSzTx/>
              <a:buNone/>
              <a:defRPr sz="1200">
                <a:latin typeface="Times New Roman"/>
                <a:ea typeface="Times New Roman"/>
                <a:cs typeface="Times New Roman"/>
                <a:sym typeface="Times New Roman"/>
              </a:defRPr>
            </a:pPr>
            <a:r>
              <a:t>[1] . A. N. O. Alenzi, H. Z., “Fraud detection in credit cards using logistic regression. </a:t>
            </a:r>
          </a:p>
          <a:p>
            <a:pPr marL="0" indent="0">
              <a:buSzTx/>
              <a:buNone/>
              <a:defRPr sz="1200">
                <a:latin typeface="Times New Roman"/>
                <a:ea typeface="Times New Roman"/>
                <a:cs typeface="Times New Roman"/>
                <a:sym typeface="Times New Roman"/>
              </a:defRPr>
            </a:pPr>
            <a:r>
              <a:t>       </a:t>
            </a:r>
            <a:r>
              <a:rPr u="sng">
                <a:solidFill>
                  <a:srgbClr val="0563C1"/>
                </a:solidFill>
                <a:uFill>
                  <a:solidFill>
                    <a:srgbClr val="0563C1"/>
                  </a:solidFill>
                </a:uFill>
                <a:hlinkClick r:id="rId2" invalidUrl="" action="" tgtFrame="" tooltip="" history="1" highlightClick="0" endSnd="0"/>
              </a:rPr>
              <a:t>https://thesai.org/Publications/ViewPaper?Volume=11&amp;Issue=</a:t>
            </a:r>
            <a:r>
              <a:t> 12&amp;Code=IJACSA&amp;SerialNo=65, 2020</a:t>
            </a:r>
          </a:p>
          <a:p>
            <a:pPr marL="0" indent="0">
              <a:buSzTx/>
              <a:buNone/>
              <a:defRPr sz="1200">
                <a:latin typeface="Times New Roman"/>
                <a:ea typeface="Times New Roman"/>
                <a:cs typeface="Times New Roman"/>
                <a:sym typeface="Times New Roman"/>
              </a:defRPr>
            </a:pPr>
            <a:r>
              <a:t>[2]. P. S. . K. S. Dighe, D., “Detection of credit card fraud transactions using machine learning algorithms and neural networks.” </a:t>
            </a:r>
          </a:p>
          <a:p>
            <a:pPr marL="0" indent="0">
              <a:buSzTx/>
              <a:buNone/>
              <a:defRPr sz="1200">
                <a:latin typeface="Times New Roman"/>
                <a:ea typeface="Times New Roman"/>
                <a:cs typeface="Times New Roman"/>
                <a:sym typeface="Times New Roman"/>
              </a:defRPr>
            </a:pPr>
            <a:r>
              <a:t>       https://doi.org/10.1109/iccubea. </a:t>
            </a:r>
          </a:p>
          <a:p>
            <a:pPr marL="0" indent="0">
              <a:buSzTx/>
              <a:buNone/>
              <a:defRPr sz="1200">
                <a:latin typeface="Times New Roman"/>
                <a:ea typeface="Times New Roman"/>
                <a:cs typeface="Times New Roman"/>
                <a:sym typeface="Times New Roman"/>
              </a:defRPr>
            </a:pPr>
            <a:r>
              <a:t>[3] . D. E. . Sahin, Y., “Detecting credit card fraud by decision trees and support vector machines,” 2011. Accessed: 23-oct-2023.</a:t>
            </a:r>
          </a:p>
          <a:p>
            <a:pPr marL="0" indent="0">
              <a:buSzTx/>
              <a:buNone/>
              <a:defRPr sz="1200">
                <a:latin typeface="Times New Roman"/>
                <a:ea typeface="Times New Roman"/>
                <a:cs typeface="Times New Roman"/>
                <a:sym typeface="Times New Roman"/>
              </a:defRPr>
            </a:pPr>
            <a:r>
              <a:t>[4] . S. A. A. S. . S. S. D. Maniraj, S. P., “Credit card fraud detection using machine learning and data science.” </a:t>
            </a:r>
          </a:p>
          <a:p>
            <a:pPr marL="0" indent="0">
              <a:buSzTx/>
              <a:buNone/>
              <a:defRPr sz="1200">
                <a:latin typeface="Times New Roman"/>
                <a:ea typeface="Times New Roman"/>
                <a:cs typeface="Times New Roman"/>
                <a:sym typeface="Times New Roman"/>
              </a:defRPr>
            </a:pPr>
            <a:r>
              <a:t>        https://doi.org/10.17577/ijertv8is090031, 2019. Accessed: 25-oct-2023.</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TextBox 3"/>
          <p:cNvSpPr txBox="1"/>
          <p:nvPr/>
        </p:nvSpPr>
        <p:spPr>
          <a:xfrm>
            <a:off x="4853939" y="2049779"/>
            <a:ext cx="3619502" cy="85036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6000"/>
            </a:lvl1pPr>
          </a:lstStyle>
          <a:p>
            <a:pPr/>
            <a:r>
              <a:t>Question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